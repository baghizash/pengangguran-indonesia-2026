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967728" y="932688"/>
            <a:ext cx="4892040" cy="5120640"/>
          </a:xfrm>
          <a:prstGeom prst="roundRect">
            <a:avLst>
              <a:gd name="adj" fmla="val 4112"/>
            </a:avLst>
          </a:prstGeom>
          <a:solidFill>
            <a:srgbClr val="EFC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748272" y="713232"/>
            <a:ext cx="4892040" cy="5120640"/>
          </a:xfrm>
          <a:prstGeom prst="roundRect">
            <a:avLst>
              <a:gd name="adj" fmla="val 3364"/>
            </a:avLst>
          </a:prstGeom>
          <a:solidFill>
            <a:srgbClr val="F7F1E5"/>
          </a:solidFill>
          <a:ln w="12700">
            <a:solidFill>
              <a:srgbClr val="DED2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30568" y="795528"/>
            <a:ext cx="4727448" cy="4956048"/>
          </a:xfrm>
          <a:prstGeom prst="roundRect">
            <a:avLst>
              <a:gd name="adj" fmla="val 3094"/>
            </a:avLst>
          </a:prstGeom>
          <a:noFill/>
          <a:ln w="15240">
            <a:solidFill>
              <a:srgbClr val="EFC3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22592" y="1847088"/>
            <a:ext cx="43434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sz="6800" b="1" i="0">
                <a:solidFill>
                  <a:srgbClr val="C75B7F"/>
                </a:solidFill>
                <a:latin typeface="Noto Sans"/>
              </a:rPr>
              <a:t>17,37%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22592" y="3090672"/>
            <a:ext cx="43434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sz="1500" b="1" i="0">
                <a:solidFill>
                  <a:srgbClr val="2E3138"/>
                </a:solidFill>
                <a:latin typeface="Noto Sans"/>
              </a:rPr>
              <a:t>TPT usia 15-24 tahun (Mei 2026)</a:t>
            </a: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sz="1250" b="0" i="0">
                <a:solidFill>
                  <a:srgbClr val="5F5B4F"/>
                </a:solidFill>
                <a:latin typeface="Noto Sans"/>
              </a:rPr>
              <a:t>Naik 1,01 poin persen dari Feb 2026, saat TPT nasional justru turun.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4956048"/>
            <a:ext cx="2121408" cy="493776"/>
          </a:xfrm>
          <a:prstGeom prst="roundRect">
            <a:avLst>
              <a:gd name="adj" fmla="val 50000"/>
            </a:avLst>
          </a:prstGeom>
          <a:solidFill>
            <a:srgbClr val="4E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4956048"/>
            <a:ext cx="2029967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7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Noto Sans"/>
              </a:rPr>
              <a:t>TPT nasional 4,65%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932688"/>
            <a:ext cx="580644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3300" b="1" i="0">
                <a:solidFill>
                  <a:srgbClr val="2E3138"/>
                </a:solidFill>
                <a:latin typeface="Noto Sans"/>
              </a:rPr>
              <a:t>ANALISIS PENGANGGURAN INDONESIA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15184"/>
            <a:ext cx="5669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700" b="1" i="0">
                <a:solidFill>
                  <a:srgbClr val="4E7FA6"/>
                </a:solidFill>
                <a:latin typeface="Noto Sans"/>
              </a:rPr>
              <a:t>Paradoks Pendidikan: TPT Nasional Turun, tapi Lulusan SMK Paling Sulit Dapat Kerja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12463"/>
            <a:ext cx="55778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400" b="0" i="0">
                <a:solidFill>
                  <a:srgbClr val="2E3138"/>
                </a:solidFill>
                <a:latin typeface="Noto Sans"/>
              </a:rPr>
              <a:t>Data resmi BPS (Sakernas), Februari 2024 sampai Mei 2026. Dapat direproduksi dari script dan query SQL di repo.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400" b="0" i="0">
                <a:solidFill>
                  <a:srgbClr val="2E3138"/>
                </a:solidFill>
                <a:latin typeface="Noto Sans"/>
              </a:rPr>
              <a:t>Plus: paket dashboard Power BI (star schema anti-jebakan, DAX, panduan rakit)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596128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779008"/>
            <a:ext cx="5806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900" b="1" i="0">
                <a:solidFill>
                  <a:srgbClr val="2E3138"/>
                </a:solidFill>
                <a:latin typeface="Noto Sans"/>
              </a:rPr>
              <a:t>BAGHIZ ASSHIDDIQIE ARASYA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3100" b="1" i="0">
                <a:solidFill>
                  <a:srgbClr val="2E3138"/>
                </a:solidFill>
                <a:latin typeface="Noto Sans"/>
              </a:rPr>
              <a:t>Latar Belakang dan Sumber Data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7" y="1042415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89888"/>
            <a:ext cx="67208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Tingkat Pengangguran Terbuka (TPT) nasional turun, tapi angka rata-rata menyembunyikan jurang yang lebar antar jenjang pendidikan, umur, gender, kota-desa, dan provinsi.</a:t>
            </a:r>
          </a:p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Project ini mengkompilasi angka resmi BPS dari publikasi Sakernas: 5 titik waktu (Feb 2024, Feb 2025, Agu 2025, Feb 2026, Mei 2026), dengan rincian pendidikan, umur, gender, kota-desa, dan 38 provinsi.</a:t>
            </a:r>
          </a:p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Semua angka diverifikasi dengan query SQL independen (sql/queries.sql) dan divisualisasikan dalam 10 chart dari data yang sama.</a:t>
            </a:r>
          </a:p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Pertanyaan utama: TPT nasional 4,65%. Tapi siapa sebenarnya 7,22 juta penganggur itu, dan di mana letak masalah terbesarnya?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1389888"/>
            <a:ext cx="4160520" cy="4041648"/>
          </a:xfrm>
          <a:prstGeom prst="roundRect">
            <a:avLst>
              <a:gd name="adj" fmla="val 4072"/>
            </a:avLst>
          </a:prstGeom>
          <a:solidFill>
            <a:srgbClr val="F7F1E5"/>
          </a:solidFill>
          <a:ln w="12700">
            <a:solidFill>
              <a:srgbClr val="DED2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26096" y="1472184"/>
            <a:ext cx="3995928" cy="3877056"/>
          </a:xfrm>
          <a:prstGeom prst="roundRect">
            <a:avLst>
              <a:gd name="adj" fmla="val 3773"/>
            </a:avLst>
          </a:prstGeom>
          <a:noFill/>
          <a:ln w="15240">
            <a:solidFill>
              <a:srgbClr val="EFC3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82127" y="1700784"/>
            <a:ext cx="11430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3200" b="1" i="0">
                <a:solidFill>
                  <a:srgbClr val="4E7FA6"/>
                </a:solidFill>
                <a:latin typeface="Noto San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792224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300" b="0" i="0">
                <a:solidFill>
                  <a:srgbClr val="2E3138"/>
                </a:solidFill>
                <a:latin typeface="Noto Sans"/>
              </a:rPr>
              <a:t>titik waktu Sakernas diamati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82127" y="2633472"/>
            <a:ext cx="3520440" cy="20116"/>
          </a:xfrm>
          <a:prstGeom prst="roundRect">
            <a:avLst>
              <a:gd name="adj" fmla="val 50000"/>
            </a:avLst>
          </a:prstGeom>
          <a:solidFill>
            <a:srgbClr val="DED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82127" y="2962656"/>
            <a:ext cx="11430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3200" b="1" i="0">
                <a:solidFill>
                  <a:srgbClr val="4E7FA6"/>
                </a:solidFill>
                <a:latin typeface="Noto Sans"/>
              </a:rPr>
              <a:t>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054096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300" b="0" i="0">
                <a:solidFill>
                  <a:srgbClr val="2E3138"/>
                </a:solidFill>
                <a:latin typeface="Noto Sans"/>
              </a:rPr>
              <a:t>provinsi dalam kompilasi BPS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82127" y="3895344"/>
            <a:ext cx="3520440" cy="20116"/>
          </a:xfrm>
          <a:prstGeom prst="roundRect">
            <a:avLst>
              <a:gd name="adj" fmla="val 50000"/>
            </a:avLst>
          </a:prstGeom>
          <a:solidFill>
            <a:srgbClr val="DED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7" y="4224528"/>
            <a:ext cx="11430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3200" b="1" i="0">
                <a:solidFill>
                  <a:srgbClr val="4E7FA6"/>
                </a:solidFill>
                <a:latin typeface="Noto Sans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79408" y="4315968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300" b="0" i="0">
                <a:solidFill>
                  <a:srgbClr val="2E3138"/>
                </a:solidFill>
                <a:latin typeface="Noto Sans"/>
              </a:rPr>
              <a:t>chart dari data yang sama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382512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100" b="0" i="1">
                <a:solidFill>
                  <a:srgbClr val="5F5B4F"/>
                </a:solidFill>
                <a:latin typeface="Noto Sans"/>
              </a:rPr>
              <a:t>Sumber: BPS, Survei Angkatan Kerja Nasional (Sakernas). Daftar sumber per angka: data/SOURCES.md.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3100" b="1" i="0">
                <a:solidFill>
                  <a:srgbClr val="2E3138"/>
                </a:solidFill>
                <a:latin typeface="Noto Sans"/>
              </a:rPr>
              <a:t>TPT Nasional Turun, Ekonomi Tetap Tumbuh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7" y="1042415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89888"/>
            <a:ext cx="534924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TPT nasional turun dari 4,82% (Feb 2024) ke 4,65% (Mei 2026), penurunan 0,17 poin persen dalam 27 bulan.</a:t>
            </a:r>
          </a:p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Penganggur Mei 2026: 7,22 jt orang dari angkatan kerja 155,41 jt; yang bekerja 148,19 jt. TPAK 70,57%.</a:t>
            </a:r>
          </a:p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Di saat yang sama, ekonomi tumbuh: PDB Q2 2026 tumbuh 5,29% secara tahunan. Penurunan TPT berjalan seiring pertumbuhan ekonomi.</a:t>
            </a:r>
          </a:p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Tapi tren nasional saja tidak cukup, masalah sesungguhnya ada di rinciannya.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353312"/>
            <a:ext cx="5577840" cy="3566160"/>
          </a:xfrm>
          <a:prstGeom prst="roundRect">
            <a:avLst>
              <a:gd name="adj" fmla="val 4102"/>
            </a:avLst>
          </a:prstGeom>
          <a:solidFill>
            <a:srgbClr val="F7F1E5"/>
          </a:solidFill>
          <a:ln w="12700">
            <a:solidFill>
              <a:srgbClr val="DED2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_tpt_nasional_tr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709351"/>
            <a:ext cx="5248655" cy="285408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126480" y="5138928"/>
            <a:ext cx="2606040" cy="502920"/>
          </a:xfrm>
          <a:prstGeom prst="roundRect">
            <a:avLst>
              <a:gd name="adj" fmla="val 50000"/>
            </a:avLst>
          </a:prstGeom>
          <a:solidFill>
            <a:srgbClr val="4E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5138928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7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Noto Sans"/>
              </a:rPr>
              <a:t>TPT Mei 2026: 4,65%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5138928"/>
            <a:ext cx="2834640" cy="502920"/>
          </a:xfrm>
          <a:prstGeom prst="roundRect">
            <a:avLst>
              <a:gd name="adj" fmla="val 50000"/>
            </a:avLst>
          </a:prstGeom>
          <a:solidFill>
            <a:srgbClr val="EFC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15400" y="5138928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7000"/>
              </a:lnSpc>
              <a:spcAft>
                <a:spcPts val="0"/>
              </a:spcAft>
            </a:pPr>
            <a:r>
              <a:rPr sz="1250" b="1" i="0">
                <a:solidFill>
                  <a:srgbClr val="2E3138"/>
                </a:solidFill>
                <a:latin typeface="Noto Sans"/>
              </a:rPr>
              <a:t>Penganggur: 7,22 jt orang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3100" b="1" i="0">
                <a:solidFill>
                  <a:srgbClr val="2E3138"/>
                </a:solidFill>
                <a:latin typeface="Noto Sans"/>
              </a:rPr>
              <a:t>Paradoks Pendidikan: Makin Tinggi Ijazah, Makin Sulit?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7" y="1042415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89888"/>
            <a:ext cx="534924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Lulusan SMK punya TPT 7,68%, tertinggi di antara semua jenjang pendidikan. Lulusan SD ke bawah hanya 2,31%.</a:t>
            </a:r>
          </a:p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Selisihnya 5,37 poin persen; TPT SMK 1,65 kali lipat rata-rata nasional. Paradoks: jenjang paling rendah pendidikannya justru paling mudah mendapat pekerjaan.</a:t>
            </a:r>
          </a:p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Lulusan universitas (Diploma IV/S1/S2/S3) juga tinggi: 6,09%, lebih tinggi dari lulusan SMP. Pasar kerja tidak menyerap sesuai ijazah.</a:t>
            </a:r>
          </a:p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Inilah fokus utama analisis ini: ketidakcocokan antara pendidikan dan lapangan kerja yang tersedia.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353312"/>
            <a:ext cx="5577840" cy="1207008"/>
          </a:xfrm>
          <a:prstGeom prst="roundRect">
            <a:avLst>
              <a:gd name="adj" fmla="val 12121"/>
            </a:avLst>
          </a:prstGeom>
          <a:solidFill>
            <a:srgbClr val="F7F1E5"/>
          </a:solidFill>
          <a:ln w="12700">
            <a:solidFill>
              <a:srgbClr val="DED2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82512" y="1517904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4000" b="1" i="0">
                <a:solidFill>
                  <a:srgbClr val="C75B7F"/>
                </a:solidFill>
                <a:latin typeface="Noto Sans"/>
              </a:rPr>
              <a:t>7,68%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55448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300" b="0" i="0">
                <a:solidFill>
                  <a:srgbClr val="2E3138"/>
                </a:solidFill>
                <a:latin typeface="Noto Sans"/>
              </a:rPr>
              <a:t>TPT lulusan SMK (Mei 2026), tertinggi di antara semua jenjang pendidikan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724912"/>
            <a:ext cx="5577840" cy="3611880"/>
          </a:xfrm>
          <a:prstGeom prst="roundRect">
            <a:avLst>
              <a:gd name="adj" fmla="val 4050"/>
            </a:avLst>
          </a:prstGeom>
          <a:solidFill>
            <a:srgbClr val="F7F1E5"/>
          </a:solidFill>
          <a:ln w="12700">
            <a:solidFill>
              <a:srgbClr val="DED2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2_paradoks_pendidik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3105361"/>
            <a:ext cx="5248655" cy="28509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3100" b="1" i="0">
                <a:solidFill>
                  <a:srgbClr val="2E3138"/>
                </a:solidFill>
                <a:latin typeface="Noto Sans"/>
              </a:rPr>
              <a:t>Tren SMK Membaik, tapi Masih Tertinggi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7" y="1042415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353312"/>
            <a:ext cx="5577840" cy="3566160"/>
          </a:xfrm>
          <a:prstGeom prst="roundRect">
            <a:avLst>
              <a:gd name="adj" fmla="val 4102"/>
            </a:avLst>
          </a:prstGeom>
          <a:solidFill>
            <a:srgbClr val="F7F1E5"/>
          </a:solidFill>
          <a:ln w="12700">
            <a:solidFill>
              <a:srgbClr val="DED2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_pendidikan_tr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709351"/>
            <a:ext cx="5248655" cy="285408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138928"/>
            <a:ext cx="2926080" cy="502920"/>
          </a:xfrm>
          <a:prstGeom prst="roundRect">
            <a:avLst>
              <a:gd name="adj" fmla="val 50000"/>
            </a:avLst>
          </a:prstGeom>
          <a:solidFill>
            <a:srgbClr val="C7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138928"/>
            <a:ext cx="28346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7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Noto Sans"/>
              </a:rPr>
              <a:t>SMK: 8,62% ke 7,68%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5138928"/>
            <a:ext cx="2514600" cy="502920"/>
          </a:xfrm>
          <a:prstGeom prst="roundRect">
            <a:avLst>
              <a:gd name="adj" fmla="val 50000"/>
            </a:avLst>
          </a:prstGeom>
          <a:solidFill>
            <a:srgbClr val="4E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79" y="5138928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7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Noto Sans"/>
              </a:rPr>
              <a:t>SD ke bawah: 2,31%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389888"/>
            <a:ext cx="534924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TPT SMK turun dari 8,62% (Feb 2024) ke 7,68% (Mei 2026), turun 0,94 poin persen. Tren membaik.</a:t>
            </a:r>
          </a:p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Tapi tetap jauh di atas semua jenjang lain: SMA 6,17%, universitas 6,09%, Diploma I/II/III 4,75%, SMP 4,16%, SD 2,31%.</a:t>
            </a:r>
          </a:p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Lulusan universitas sempat naik dari 5,63% (Feb 2024) ke 6,23% (Feb 2025) sebelum turun ke 6,09%. Lulusan SD stabil di sekitar 2,3% sepanjang periode.</a:t>
            </a:r>
          </a:p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Perbaikan tren belum menyentuh struktur masalahnya.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3100" b="1" i="0">
                <a:solidFill>
                  <a:srgbClr val="2E3138"/>
                </a:solidFill>
                <a:latin typeface="Noto Sans"/>
              </a:rPr>
              <a:t>Generasi Muda: 17,37% Menganggur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7" y="1042415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353312"/>
            <a:ext cx="4480560" cy="2304288"/>
          </a:xfrm>
          <a:prstGeom prst="roundRect">
            <a:avLst>
              <a:gd name="adj" fmla="val 7142"/>
            </a:avLst>
          </a:prstGeom>
          <a:solidFill>
            <a:srgbClr val="F7F1E5"/>
          </a:solidFill>
          <a:ln w="12700">
            <a:solidFill>
              <a:srgbClr val="DED2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85216" y="1435608"/>
            <a:ext cx="4315968" cy="2139696"/>
          </a:xfrm>
          <a:prstGeom prst="roundRect">
            <a:avLst>
              <a:gd name="adj" fmla="val 6837"/>
            </a:avLst>
          </a:prstGeom>
          <a:noFill/>
          <a:ln w="15240">
            <a:solidFill>
              <a:srgbClr val="EFC3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17904"/>
            <a:ext cx="402336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sz="5400" b="1" i="0">
                <a:solidFill>
                  <a:srgbClr val="C75B7F"/>
                </a:solidFill>
                <a:latin typeface="Noto Sans"/>
              </a:rPr>
              <a:t>17,37%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23744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sz="1350" b="1" i="0">
                <a:solidFill>
                  <a:srgbClr val="2E3138"/>
                </a:solidFill>
                <a:latin typeface="Noto Sans"/>
              </a:rPr>
              <a:t>TPT usia 15-24 tahun (Mei 2026)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3017520"/>
            <a:ext cx="2743200" cy="438912"/>
          </a:xfrm>
          <a:prstGeom prst="roundRect">
            <a:avLst>
              <a:gd name="adj" fmla="val 50000"/>
            </a:avLst>
          </a:prstGeom>
          <a:solidFill>
            <a:srgbClr val="EFC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3017520"/>
            <a:ext cx="2651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7000"/>
              </a:lnSpc>
              <a:spcAft>
                <a:spcPts val="0"/>
              </a:spcAft>
            </a:pPr>
            <a:r>
              <a:rPr sz="1200" b="1" i="0">
                <a:solidFill>
                  <a:srgbClr val="2E3138"/>
                </a:solidFill>
                <a:latin typeface="Noto Sans"/>
              </a:rPr>
              <a:t>3,74x rata-rata nasional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58768"/>
            <a:ext cx="4480560" cy="2670048"/>
          </a:xfrm>
          <a:prstGeom prst="roundRect">
            <a:avLst>
              <a:gd name="adj" fmla="val 5479"/>
            </a:avLst>
          </a:prstGeom>
          <a:solidFill>
            <a:srgbClr val="F7F1E5"/>
          </a:solidFill>
          <a:ln w="12700">
            <a:solidFill>
              <a:srgbClr val="DED2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4_um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4065087"/>
            <a:ext cx="4151376" cy="225740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85232" y="1389888"/>
            <a:ext cx="640080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TPT usia 15-24 tahun: 17,37% (Mei 2026), naik 1,01 poin persen dari Feb 2026, satu-satunya kelompok umur yang TPT-nya naik dalam periode itu.</a:t>
            </a:r>
          </a:p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Angka ini 3,74 kali lipat rata-rata nasional dan 6,79 kali lipat usia produktif 25-59 tahun (2,56%).</a:t>
            </a:r>
          </a:p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Kelompok 25-59 tahun justru turun dari 3,08% (Feb 2024) ke 2,56%; kelompok 60 tahun ke atas naik perlahan ke 2,35%.</a:t>
            </a:r>
          </a:p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Krisis pengangguran Indonesia adalah krisis pengangguran muda, dan sebagian besar penganggur muda adalah lulusan SMA/SMK.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3100" b="1" i="0">
                <a:solidFill>
                  <a:srgbClr val="2E3138"/>
                </a:solidFill>
                <a:latin typeface="Noto Sans"/>
              </a:rPr>
              <a:t>Kesenjangan Gender dan Kota-Desa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7" y="1042415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89888"/>
            <a:ext cx="534924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Pengangguran perkotaan 5,6% vs perdesaan 3,2%, selisih 2,4 poin persen, kota 1,75 kali lipat desa.</a:t>
            </a:r>
          </a:p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Laki-laki 4,88% vs perempuan 4,36% (selisih 0,52 pp). Tapi TPAK perempuan hanya 56,41% vs laki-laki 84,57%, banyak perempuan bahkan tidak masuk angkatan kerja.</a:t>
            </a:r>
          </a:p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Artinya: pengangguran adalah persoalan perkotaan, dan di balik angka perempuan yang lebih rendah ada partisipasi yang jauh lebih kecil.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353312"/>
            <a:ext cx="2697480" cy="1737360"/>
          </a:xfrm>
          <a:prstGeom prst="roundRect">
            <a:avLst>
              <a:gd name="adj" fmla="val 9473"/>
            </a:avLst>
          </a:prstGeom>
          <a:solidFill>
            <a:srgbClr val="F7F1E5"/>
          </a:solidFill>
          <a:ln w="12700">
            <a:solidFill>
              <a:srgbClr val="DED2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08776" y="1435608"/>
            <a:ext cx="2532888" cy="1572768"/>
          </a:xfrm>
          <a:prstGeom prst="roundRect">
            <a:avLst>
              <a:gd name="adj" fmla="val 9302"/>
            </a:avLst>
          </a:prstGeom>
          <a:noFill/>
          <a:ln w="15240">
            <a:solidFill>
              <a:srgbClr val="EFC3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572768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sz="3000" b="1" i="0">
                <a:solidFill>
                  <a:srgbClr val="4E7FA6"/>
                </a:solidFill>
                <a:latin typeface="Noto Sans"/>
              </a:rPr>
              <a:t>5,60%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2340864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sz="1200" b="0" i="0">
                <a:solidFill>
                  <a:srgbClr val="2E3138"/>
                </a:solidFill>
                <a:latin typeface="Noto Sans"/>
              </a:rPr>
              <a:t>Perkotaan (Feb 2026)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6840" y="1353312"/>
            <a:ext cx="2697480" cy="1737360"/>
          </a:xfrm>
          <a:prstGeom prst="roundRect">
            <a:avLst>
              <a:gd name="adj" fmla="val 9473"/>
            </a:avLst>
          </a:prstGeom>
          <a:solidFill>
            <a:srgbClr val="F7F1E5"/>
          </a:solidFill>
          <a:ln w="12700">
            <a:solidFill>
              <a:srgbClr val="DED2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089136" y="1435608"/>
            <a:ext cx="2532888" cy="1572768"/>
          </a:xfrm>
          <a:prstGeom prst="roundRect">
            <a:avLst>
              <a:gd name="adj" fmla="val 9302"/>
            </a:avLst>
          </a:prstGeom>
          <a:noFill/>
          <a:ln w="15240">
            <a:solidFill>
              <a:srgbClr val="EFC3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572768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sz="3000" b="1" i="0">
                <a:solidFill>
                  <a:srgbClr val="C75B7F"/>
                </a:solidFill>
                <a:latin typeface="Noto Sans"/>
              </a:rPr>
              <a:t>3,20%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340864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sz="1200" b="0" i="0">
                <a:solidFill>
                  <a:srgbClr val="2E3138"/>
                </a:solidFill>
                <a:latin typeface="Noto Sans"/>
              </a:rPr>
              <a:t>Perdesaan (Feb 2026)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3310128"/>
            <a:ext cx="5577840" cy="3017520"/>
          </a:xfrm>
          <a:prstGeom prst="roundRect">
            <a:avLst>
              <a:gd name="adj" fmla="val 4848"/>
            </a:avLst>
          </a:prstGeom>
          <a:solidFill>
            <a:srgbClr val="F7F1E5"/>
          </a:solidFill>
          <a:ln w="12700">
            <a:solidFill>
              <a:srgbClr val="DED2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5_kesenjang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3627636"/>
            <a:ext cx="5248655" cy="238250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3100" b="1" i="0">
                <a:solidFill>
                  <a:srgbClr val="2E3138"/>
                </a:solidFill>
                <a:latin typeface="Noto Sans"/>
              </a:rPr>
              <a:t>Jurang Provinsi: Papua vs Bali 4,66 Kali Lipat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7" y="1042415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89888"/>
            <a:ext cx="5349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TPT tertinggi: Papua 7,08%; terendah: Bali 1,52%, selisih 4,66 kali lipat.</a:t>
            </a:r>
          </a:p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Sepuluh provinsi tertinggi: Papua 7,08%, Jawa Barat 6,61%, Banten 6,48%... Jawa Barat dan Banten ikut di papan atas meski pusat industri.</a:t>
            </a:r>
          </a:p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Penurunan terbesar Feb→Mei 2026: Kepulauan Riau (-0,42 pp). Kenaikan terbesar: Sulawesi Tenggara (+0,22 pp).</a:t>
            </a:r>
          </a:p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600" b="0" i="0">
                <a:solidFill>
                  <a:srgbClr val="2E3138"/>
                </a:solidFill>
                <a:latin typeface="Noto Sans"/>
              </a:rPr>
              <a:t>Catatan: Mei 2026 tersedia untuk 17 provinsi; Papua 2022-2023 tidak sebanding karena pemekaran.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353312"/>
            <a:ext cx="5577840" cy="3657600"/>
          </a:xfrm>
          <a:prstGeom prst="roundRect">
            <a:avLst>
              <a:gd name="adj" fmla="val 4000"/>
            </a:avLst>
          </a:prstGeom>
          <a:solidFill>
            <a:srgbClr val="F7F1E5"/>
          </a:solidFill>
          <a:ln w="12700">
            <a:solidFill>
              <a:srgbClr val="DED2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_provinsi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618150"/>
            <a:ext cx="5248655" cy="312792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126480" y="5230368"/>
            <a:ext cx="2697480" cy="502920"/>
          </a:xfrm>
          <a:prstGeom prst="roundRect">
            <a:avLst>
              <a:gd name="adj" fmla="val 50000"/>
            </a:avLst>
          </a:prstGeom>
          <a:solidFill>
            <a:srgbClr val="C7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5230368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7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Noto Sans"/>
              </a:rPr>
              <a:t>Tertinggi: Papua 7,08%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6840" y="5230368"/>
            <a:ext cx="2697480" cy="502920"/>
          </a:xfrm>
          <a:prstGeom prst="roundRect">
            <a:avLst>
              <a:gd name="adj" fmla="val 50000"/>
            </a:avLst>
          </a:prstGeom>
          <a:solidFill>
            <a:srgbClr val="4E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0" y="5230368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7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Noto Sans"/>
              </a:rPr>
              <a:t>Terendah: Bali 1,52%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3100" b="1" i="0">
                <a:solidFill>
                  <a:srgbClr val="2E3138"/>
                </a:solidFill>
                <a:latin typeface="Noto Sans"/>
              </a:rPr>
              <a:t>Bukan Sekadar Jumlah: Kualitas Pekerjaan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7" y="1042415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53312"/>
            <a:ext cx="548640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500" b="0" i="0">
                <a:solidFill>
                  <a:srgbClr val="2E3138"/>
                </a:solidFill>
                <a:latin typeface="Noto Sans"/>
              </a:rPr>
              <a:t>Pekerja formal hanya 40,58% (59,93 jt), sisanya 59,42% bekerja informal.</a:t>
            </a:r>
          </a:p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500" b="0" i="0">
                <a:solidFill>
                  <a:srgbClr val="2E3138"/>
                </a:solidFill>
                <a:latin typeface="Noto Sans"/>
              </a:rPr>
              <a:t>Setengah menganggur 7,27%, pekerja paruh waktu 25,97%, komuter 7,19 jt.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353312"/>
            <a:ext cx="544068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500" b="0" i="0">
                <a:solidFill>
                  <a:srgbClr val="2E3138"/>
                </a:solidFill>
                <a:latin typeface="Noto Sans"/>
              </a:rPr>
              <a:t>Upah rata-rata buruh naik dari Rp3,29 jt (Feb 2026) ke Rp3,39 jt (Mei 2026).</a:t>
            </a:r>
          </a:p>
          <a:p>
            <a:pPr marL="171450" indent="-171450">
              <a:lnSpc>
                <a:spcPct val="107000"/>
              </a:lnSpc>
              <a:spcAft>
                <a:spcPts val="1100"/>
              </a:spcAft>
              <a:buChar char="•"/>
            </a:pPr>
            <a:r>
              <a:rPr sz="1500" b="0" i="0">
                <a:solidFill>
                  <a:srgbClr val="2E3138"/>
                </a:solidFill>
                <a:latin typeface="Noto Sans"/>
              </a:rPr>
              <a:t>Penambah lapangan kerja terbesar Feb→Mei 2026: penyediaan akomodasi dan makan minum (+195 ribu), transportasi dan pergudangan (+121 ribu), jasa lainnya (+110 ribu).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822191"/>
            <a:ext cx="6309360" cy="2670048"/>
          </a:xfrm>
          <a:prstGeom prst="roundRect">
            <a:avLst>
              <a:gd name="adj" fmla="val 5479"/>
            </a:avLst>
          </a:prstGeom>
          <a:solidFill>
            <a:srgbClr val="F7F1E5"/>
          </a:solidFill>
          <a:ln w="12700">
            <a:solidFill>
              <a:srgbClr val="DED2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9_formal_inf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567" y="3986783"/>
            <a:ext cx="4890064" cy="234086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040880" y="3822191"/>
            <a:ext cx="4663440" cy="2670048"/>
          </a:xfrm>
          <a:prstGeom prst="roundRect">
            <a:avLst>
              <a:gd name="adj" fmla="val 5479"/>
            </a:avLst>
          </a:prstGeom>
          <a:solidFill>
            <a:srgbClr val="F7F1E5"/>
          </a:solidFill>
          <a:ln w="12700">
            <a:solidFill>
              <a:srgbClr val="DED2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0_upah_sek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4256123"/>
            <a:ext cx="4334255" cy="18021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457200"/>
            <a:ext cx="11183112" cy="5943600"/>
          </a:xfrm>
          <a:prstGeom prst="roundRect">
            <a:avLst>
              <a:gd name="adj" fmla="val 2769"/>
            </a:avLst>
          </a:prstGeom>
          <a:solidFill>
            <a:srgbClr val="F7F1E5"/>
          </a:solidFill>
          <a:ln w="12700">
            <a:solidFill>
              <a:srgbClr val="DED2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" y="539496"/>
            <a:ext cx="11018520" cy="5779008"/>
          </a:xfrm>
          <a:prstGeom prst="roundRect">
            <a:avLst>
              <a:gd name="adj" fmla="val 2531"/>
            </a:avLst>
          </a:prstGeom>
          <a:noFill/>
          <a:ln w="15240">
            <a:solidFill>
              <a:srgbClr val="EFC3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49808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200" b="1" i="0">
                <a:solidFill>
                  <a:srgbClr val="5F5B4F"/>
                </a:solidFill>
                <a:latin typeface="Noto Sans"/>
              </a:rPr>
              <a:t>PENUTUP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15568"/>
            <a:ext cx="1033272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750" b="0" i="0">
                <a:solidFill>
                  <a:srgbClr val="2E3138"/>
                </a:solidFill>
                <a:latin typeface="Noto Sans"/>
              </a:rPr>
              <a:t>Kisah dua sisi 2026: TPT nasional turun ke 4,65% seiring ekonomi yang tumbuh 5,29%, tapi lulusan SMK (7,68%) dan anak muda 15-24 tahun (17,37%) tetap jadi kelompok paling tertekan.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395728"/>
            <a:ext cx="2606040" cy="502920"/>
          </a:xfrm>
          <a:prstGeom prst="roundRect">
            <a:avLst>
              <a:gd name="adj" fmla="val 50000"/>
            </a:avLst>
          </a:prstGeom>
          <a:solidFill>
            <a:srgbClr val="4E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95728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7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Noto Sans"/>
              </a:rPr>
              <a:t>TPT nasional 4,65%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2395728"/>
            <a:ext cx="2103120" cy="502920"/>
          </a:xfrm>
          <a:prstGeom prst="roundRect">
            <a:avLst>
              <a:gd name="adj" fmla="val 50000"/>
            </a:avLst>
          </a:prstGeom>
          <a:solidFill>
            <a:srgbClr val="C7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3320" y="2395728"/>
            <a:ext cx="201167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7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Noto Sans"/>
              </a:rPr>
              <a:t>SMK 7,68%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2395728"/>
            <a:ext cx="2788920" cy="502920"/>
          </a:xfrm>
          <a:prstGeom prst="roundRect">
            <a:avLst>
              <a:gd name="adj" fmla="val 50000"/>
            </a:avLst>
          </a:prstGeom>
          <a:solidFill>
            <a:srgbClr val="EFC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395728"/>
            <a:ext cx="269747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7000"/>
              </a:lnSpc>
              <a:spcAft>
                <a:spcPts val="0"/>
              </a:spcAft>
            </a:pPr>
            <a:r>
              <a:rPr sz="1250" b="1" i="0">
                <a:solidFill>
                  <a:srgbClr val="2E3138"/>
                </a:solidFill>
                <a:latin typeface="Noto Sans"/>
              </a:rPr>
              <a:t>Muda 15-24: 17,37%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27248"/>
            <a:ext cx="1033272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350" b="0" i="0">
                <a:solidFill>
                  <a:srgbClr val="5F5B4F"/>
                </a:solidFill>
                <a:latin typeface="Noto Sans"/>
              </a:rPr>
              <a:t>Isi repo: analysis.ipynb, data/compiled + SOURCES.md, sql/queries.sql (semua angka diverifikasi ulang lewat SQL), scripts, charts, findings.json.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350" b="0" i="0">
                <a:solidFill>
                  <a:srgbClr val="5F5B4F"/>
                </a:solidFill>
                <a:latin typeface="Noto Sans"/>
              </a:rPr>
              <a:t>Plus kit dashboard Power BI: star schema anti-jebakan (fact_tpt_nasional dan fact_tpt_segmen terpisah agar measure tidak terkontaminasi), measure DAX, layout dashboard, dan panduan rakit 20-30 menit. Lihat powerbi/measures_dax_CATATAN_LEVEL.md dulu.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90288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250" b="0" i="1">
                <a:solidFill>
                  <a:srgbClr val="5F5B4F"/>
                </a:solidFill>
                <a:latin typeface="Noto Sans"/>
              </a:rPr>
              <a:t>Keterbatasan: angka Mei 2026 hanya untuk 17 provinsi; dataset ini kompilasi angka publikasi resmi, bukan mikrodataset Sakernas.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" y="5138928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321808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2700" b="1" i="0">
                <a:solidFill>
                  <a:srgbClr val="2E3138"/>
                </a:solidFill>
                <a:latin typeface="Noto Sans"/>
              </a:rPr>
              <a:t>BAGHIZ ASSHIDDIQIE ARASYA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961888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4E7FA6"/>
                </a:solidFill>
                <a:latin typeface="Noto Sans"/>
              </a:rPr>
              <a:t>github.com/baghizash/pengangguran-indonesia-2026</a:t>
            </a:r>
            <a:r>
              <a:rPr sz="1400">
                <a:solidFill>
                  <a:srgbClr val="2E3138"/>
                </a:solidFill>
                <a:latin typeface="Noto Sans"/>
              </a:rPr>
              <a:t>  |  Terbuka untuk peluang data analyst dan kolaborasi analisis data publik.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